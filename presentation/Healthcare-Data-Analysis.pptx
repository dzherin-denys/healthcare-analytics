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embeddedFontLst>
    <p:embeddedFont>
      <p:font typeface="Alexandria"/>
      <p:regular r:id="rId201314"/>
    </p:embeddedFont>
    <p:embeddedFont>
      <p:font typeface="Alexandria Bold"/>
      <p:regular r:id="rId201315"/>
    </p:embeddedFont>
    <p:embeddedFont>
      <p:font typeface="Nobile"/>
      <p:regular r:id="rId201316"/>
    </p:embeddedFont>
    <p:embeddedFont>
      <p:font typeface="Nobile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image" Target="../media/image-2-1.png"/><Relationship Id="rId4" Type="http://schemas.openxmlformats.org/officeDocument/2006/relationships/image" Target="../media/image-2-1.png"/><Relationship Id="rId5" Type="http://schemas.openxmlformats.org/officeDocument/2006/relationships/image" Target="../media/image-2-1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1.png"/><Relationship Id="rId4" Type="http://schemas.openxmlformats.org/officeDocument/2006/relationships/image" Target="../media/image-4-2.svg"/><Relationship Id="rId5" Type="http://schemas.openxmlformats.org/officeDocument/2006/relationships/image" Target="../media/image-4-1.png"/><Relationship Id="rId6" Type="http://schemas.openxmlformats.org/officeDocument/2006/relationships/image" Target="../media/image-4-2.svg"/><Relationship Id="rId7" Type="http://schemas.openxmlformats.org/officeDocument/2006/relationships/image" Target="../media/image-4-1.png"/><Relationship Id="rId8" Type="http://schemas.openxmlformats.org/officeDocument/2006/relationships/image" Target="../media/image-4-2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svg"/><Relationship Id="rId6" Type="http://schemas.openxmlformats.org/officeDocument/2006/relationships/image" Target="../media/image-5-4.png"/><Relationship Id="rId7" Type="http://schemas.openxmlformats.org/officeDocument/2006/relationships/image" Target="../media/image-5-5.svg"/><Relationship Id="rId8" Type="http://schemas.openxmlformats.org/officeDocument/2006/relationships/image" Target="../media/image-5-4.png"/><Relationship Id="rId9" Type="http://schemas.openxmlformats.org/officeDocument/2006/relationships/image" Target="../media/image-5-5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2.png"/><Relationship Id="rId5" Type="http://schemas.openxmlformats.org/officeDocument/2006/relationships/image" Target="../media/image-6-5.png"/><Relationship Id="rId6" Type="http://schemas.openxmlformats.org/officeDocument/2006/relationships/image" Target="../media/image-6-2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2.png"/><Relationship Id="rId5" Type="http://schemas.openxmlformats.org/officeDocument/2006/relationships/image" Target="../media/image-7-3.svg"/><Relationship Id="rId6" Type="http://schemas.openxmlformats.org/officeDocument/2006/relationships/image" Target="../media/image-7-6.png"/><Relationship Id="rId7" Type="http://schemas.openxmlformats.org/officeDocument/2006/relationships/image" Target="../media/image-7-7.sv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6682" y="801291"/>
            <a:ext cx="1147833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C8D4DA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▬▬▬▬▬▬▬▬▬▬▬▬▬▬▬▬▬▬▬▬▬▬▬▬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224233" y="1240730"/>
            <a:ext cx="2352815" cy="147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1B54DA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DATA ANALYST PORTFOLIO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1491159"/>
            <a:ext cx="10868745" cy="3012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450" dirty="0">
                <a:solidFill>
                  <a:srgbClr val="17324D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Healthcare</a:t>
            </a:r>
            <a:endParaRPr lang="en-US" sz="945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9450" dirty="0">
                <a:solidFill>
                  <a:srgbClr val="17324D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Data Analysis</a:t>
            </a:r>
            <a:endParaRPr lang="en-US" sz="9450" dirty="0"/>
          </a:p>
        </p:txBody>
      </p:sp>
      <p:sp>
        <p:nvSpPr>
          <p:cNvPr id="5" name="Text 3"/>
          <p:cNvSpPr/>
          <p:nvPr/>
        </p:nvSpPr>
        <p:spPr>
          <a:xfrm>
            <a:off x="661475" y="4708426"/>
            <a:ext cx="10868745" cy="629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30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6B768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Ein vollständiger analytischer Workflow von der Datengenerierung bis zur interaktiven BI-Visualisierung</a:t>
            </a:r>
            <a:endParaRPr lang="en-US" sz="1250" dirty="0"/>
          </a:p>
          <a:p>
            <a:pPr algn="ctr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C8D4DA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▬▬▬▬▬▬▬▬▬▬▬▬▬▬▬▬▬▬▬▬▬▬▬▬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56682" y="5491063"/>
            <a:ext cx="11478330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3000"/>
              </a:lnSpc>
              <a:buNone/>
            </a:pPr>
            <a:r>
              <a:rPr lang="en-US" sz="1550" b="1" dirty="0">
                <a:solidFill>
                  <a:srgbClr val="19A7A0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SQL</a:t>
            </a:r>
            <a:pPr algn="ctr" indent="0" marL="0">
              <a:lnSpc>
                <a:spcPct val="123000"/>
              </a:lnSpc>
              <a:buNone/>
            </a:pPr>
            <a:r>
              <a:rPr lang="en-US" sz="1550" dirty="0">
                <a:solidFill>
                  <a:srgbClr val="6B768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 •  </a:t>
            </a:r>
            <a:pPr algn="ctr" indent="0" marL="0">
              <a:lnSpc>
                <a:spcPct val="123000"/>
              </a:lnSpc>
              <a:buNone/>
            </a:pPr>
            <a:r>
              <a:rPr lang="en-US" sz="1550" b="1" dirty="0">
                <a:solidFill>
                  <a:srgbClr val="19A7A0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Python</a:t>
            </a:r>
            <a:pPr algn="ctr" indent="0" marL="0">
              <a:lnSpc>
                <a:spcPct val="123000"/>
              </a:lnSpc>
              <a:buNone/>
            </a:pPr>
            <a:r>
              <a:rPr lang="en-US" sz="1550" dirty="0">
                <a:solidFill>
                  <a:srgbClr val="6B768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 •  </a:t>
            </a:r>
            <a:pPr algn="ctr" indent="0" marL="0">
              <a:lnSpc>
                <a:spcPct val="123000"/>
              </a:lnSpc>
              <a:buNone/>
            </a:pPr>
            <a:r>
              <a:rPr lang="en-US" sz="1550" b="1" dirty="0">
                <a:solidFill>
                  <a:srgbClr val="19A7A0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BigQuery</a:t>
            </a:r>
            <a:pPr algn="ctr" indent="0" marL="0">
              <a:lnSpc>
                <a:spcPct val="123000"/>
              </a:lnSpc>
              <a:buNone/>
            </a:pPr>
            <a:r>
              <a:rPr lang="en-US" sz="1550" dirty="0">
                <a:solidFill>
                  <a:srgbClr val="6B768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 •  </a:t>
            </a:r>
            <a:pPr algn="ctr" indent="0" marL="0">
              <a:lnSpc>
                <a:spcPct val="123000"/>
              </a:lnSpc>
              <a:buNone/>
            </a:pPr>
            <a:r>
              <a:rPr lang="en-US" sz="1550" b="1" dirty="0">
                <a:solidFill>
                  <a:srgbClr val="19A7A0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Tableau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356682" y="5941814"/>
            <a:ext cx="1147833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C8D4DA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▬▬▬▬▬▬▬▬▬▬▬▬▬▬▬▬▬▬▬▬▬▬▬▬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6455"/>
            <a:ext cx="10868745" cy="377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350" dirty="0">
                <a:solidFill>
                  <a:srgbClr val="17324D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Project Overview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661475" y="1058962"/>
            <a:ext cx="10868745" cy="404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9000"/>
              </a:lnSpc>
              <a:spcAft>
                <a:spcPts val="650"/>
              </a:spcAft>
              <a:buNone/>
            </a:pPr>
            <a:r>
              <a:rPr lang="en-US" sz="950" dirty="0">
                <a:solidFill>
                  <a:srgbClr val="6B768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Was wird untersucht? Mit welchen Daten? Und wie?</a:t>
            </a:r>
            <a:endParaRPr lang="en-US" sz="950" dirty="0"/>
          </a:p>
          <a:p>
            <a:pPr algn="ctr" indent="0" marL="0">
              <a:lnSpc>
                <a:spcPct val="109000"/>
              </a:lnSpc>
              <a:buNone/>
            </a:pPr>
            <a:r>
              <a:rPr lang="en-US" sz="950" dirty="0">
                <a:solidFill>
                  <a:srgbClr val="C8D4DA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▬▬▬▬▬▬▬▬▬▬▬▬▬▬▬▬▬▬▬▬▬▬▬▬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1579265"/>
            <a:ext cx="10868745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9A7A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01 · Projektziel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61475" y="1884263"/>
            <a:ext cx="11478330" cy="158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dirty="0">
                <a:solidFill>
                  <a:srgbClr val="17324D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Analyse synthetischer Healthcare-Daten zur Identifikation von Nutzungsmustern, Kostenstrukturen und relevanten KPIs.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56682" y="2129929"/>
            <a:ext cx="11478330" cy="158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9000"/>
              </a:lnSpc>
              <a:buNone/>
            </a:pPr>
            <a:r>
              <a:rPr lang="en-US" sz="950" dirty="0">
                <a:solidFill>
                  <a:srgbClr val="C8D4DA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▬▬▬▬▬▬▬▬▬▬▬▬▬▬▬▬▬▬▬▬▬▬▬▬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61475" y="2404566"/>
            <a:ext cx="10868745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9A7A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02 · Datengrundlage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604029" y="2769989"/>
            <a:ext cx="3500846" cy="399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1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11.550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661475" y="3287514"/>
            <a:ext cx="5386054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7324D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Patienten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61475" y="3522861"/>
            <a:ext cx="5386054" cy="158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9000"/>
              </a:lnSpc>
              <a:buNone/>
            </a:pPr>
            <a:r>
              <a:rPr lang="en-US" sz="950" dirty="0">
                <a:solidFill>
                  <a:srgbClr val="6B768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Synthetische Profile aus Synthea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086720" y="2769989"/>
            <a:ext cx="3500846" cy="399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1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50.000</a:t>
            </a:r>
            <a:endParaRPr lang="en-US" sz="3100" dirty="0"/>
          </a:p>
        </p:txBody>
      </p:sp>
      <p:sp>
        <p:nvSpPr>
          <p:cNvPr id="12" name="Text 10"/>
          <p:cNvSpPr/>
          <p:nvPr/>
        </p:nvSpPr>
        <p:spPr>
          <a:xfrm>
            <a:off x="6144166" y="3287514"/>
            <a:ext cx="5386054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7324D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Encounters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144166" y="3522861"/>
            <a:ext cx="5386054" cy="158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9000"/>
              </a:lnSpc>
              <a:buNone/>
            </a:pPr>
            <a:r>
              <a:rPr lang="en-US" sz="950" dirty="0">
                <a:solidFill>
                  <a:srgbClr val="6B768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Strukturiert in BigQuery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56682" y="3768527"/>
            <a:ext cx="11478330" cy="158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9000"/>
              </a:lnSpc>
              <a:buNone/>
            </a:pPr>
            <a:r>
              <a:rPr lang="en-US" sz="950" dirty="0">
                <a:solidFill>
                  <a:srgbClr val="C8D4DA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▬▬▬▬▬▬▬▬▬▬▬▬▬▬▬▬▬▬▬▬▬▬▬▬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61475" y="4043164"/>
            <a:ext cx="10868745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9A7A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03 · Analytischer Ansatz</a:t>
            </a:r>
            <a:endParaRPr lang="en-US" sz="11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4348163"/>
            <a:ext cx="3622882" cy="483691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782320" y="4909145"/>
            <a:ext cx="3381191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404155"/>
                </a:solidFill>
                <a:latin typeface="Alexandria Bold" pitchFamily="34" charset="0"/>
                <a:ea typeface="Alexandria Bold" pitchFamily="34" charset="-122"/>
                <a:cs typeface="Alexandria Bold" pitchFamily="34" charset="-120"/>
              </a:rPr>
              <a:t>Prepare Data</a:t>
            </a:r>
            <a:endParaRPr lang="en-US" sz="115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4357" y="4348163"/>
            <a:ext cx="3622882" cy="483691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405202" y="4909145"/>
            <a:ext cx="3381191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404155"/>
                </a:solidFill>
                <a:latin typeface="Alexandria Bold" pitchFamily="34" charset="0"/>
                <a:ea typeface="Alexandria Bold" pitchFamily="34" charset="-122"/>
                <a:cs typeface="Alexandria Bold" pitchFamily="34" charset="-120"/>
              </a:rPr>
              <a:t>Explore</a:t>
            </a:r>
            <a:endParaRPr lang="en-US" sz="115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7239" y="4348163"/>
            <a:ext cx="3622882" cy="483691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028084" y="4909145"/>
            <a:ext cx="3381191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404155"/>
                </a:solidFill>
                <a:latin typeface="Alexandria Bold" pitchFamily="34" charset="0"/>
                <a:ea typeface="Alexandria Bold" pitchFamily="34" charset="-122"/>
                <a:cs typeface="Alexandria Bold" pitchFamily="34" charset="-120"/>
              </a:rPr>
              <a:t>Analyze</a:t>
            </a:r>
            <a:endParaRPr lang="en-US" sz="115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5339854"/>
            <a:ext cx="3622882" cy="483691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82320" y="5900837"/>
            <a:ext cx="3381191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404155"/>
                </a:solidFill>
                <a:latin typeface="Alexandria Bold" pitchFamily="34" charset="0"/>
                <a:ea typeface="Alexandria Bold" pitchFamily="34" charset="-122"/>
                <a:cs typeface="Alexandria Bold" pitchFamily="34" charset="-120"/>
              </a:rPr>
              <a:t>Visualize</a:t>
            </a:r>
            <a:endParaRPr lang="en-US" sz="115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4357" y="5339854"/>
            <a:ext cx="3622882" cy="483691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4405202" y="5900837"/>
            <a:ext cx="3381191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404155"/>
                </a:solidFill>
                <a:latin typeface="Alexandria Bold" pitchFamily="34" charset="0"/>
                <a:ea typeface="Alexandria Bold" pitchFamily="34" charset="-122"/>
                <a:cs typeface="Alexandria Bold" pitchFamily="34" charset="-120"/>
              </a:rPr>
              <a:t>Communicate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9729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17324D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Datenarchitektur &amp; Workflow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356682" y="1432024"/>
            <a:ext cx="11478330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B768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Fünf aufeinander aufbauende Stufen — von der Datengenerierung bis zur interaktiven KPI-Visualisierung.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04008"/>
            <a:ext cx="3622882" cy="71824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40957" y="2792809"/>
            <a:ext cx="786983" cy="272752"/>
          </a:xfrm>
          <a:prstGeom prst="roundRect">
            <a:avLst>
              <a:gd name="adj" fmla="val 22121"/>
            </a:avLst>
          </a:prstGeom>
          <a:solidFill>
            <a:srgbClr val="D2DDF9"/>
          </a:solidFill>
          <a:ln/>
        </p:spPr>
      </p:sp>
      <p:sp>
        <p:nvSpPr>
          <p:cNvPr id="6" name="Text 3"/>
          <p:cNvSpPr/>
          <p:nvPr/>
        </p:nvSpPr>
        <p:spPr>
          <a:xfrm>
            <a:off x="948607" y="2846586"/>
            <a:ext cx="571684" cy="165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SOURCE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40957" y="3133725"/>
            <a:ext cx="3263918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17324D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Synthea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840957" y="3516511"/>
            <a:ext cx="3263918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B768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Synthetische Encounter-Daten generieren</a:t>
            </a:r>
            <a:endParaRPr lang="en-US" sz="14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4357" y="1904008"/>
            <a:ext cx="3622882" cy="718245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63839" y="2792809"/>
            <a:ext cx="1243279" cy="272752"/>
          </a:xfrm>
          <a:prstGeom prst="roundRect">
            <a:avLst>
              <a:gd name="adj" fmla="val 22121"/>
            </a:avLst>
          </a:prstGeom>
          <a:solidFill>
            <a:srgbClr val="D2DDF9"/>
          </a:solidFill>
          <a:ln/>
        </p:spPr>
      </p:sp>
      <p:sp>
        <p:nvSpPr>
          <p:cNvPr id="11" name="Text 7"/>
          <p:cNvSpPr/>
          <p:nvPr/>
        </p:nvSpPr>
        <p:spPr>
          <a:xfrm>
            <a:off x="4571489" y="2846586"/>
            <a:ext cx="1027980" cy="165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PREPARATION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4463839" y="3133725"/>
            <a:ext cx="3263918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17324D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Python</a:t>
            </a:r>
            <a:endParaRPr lang="en-US" sz="1750" dirty="0"/>
          </a:p>
        </p:txBody>
      </p:sp>
      <p:sp>
        <p:nvSpPr>
          <p:cNvPr id="13" name="Text 9"/>
          <p:cNvSpPr/>
          <p:nvPr/>
        </p:nvSpPr>
        <p:spPr>
          <a:xfrm>
            <a:off x="4463839" y="3516511"/>
            <a:ext cx="3263918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B768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Datenbereinigung und Exploration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7239" y="1904008"/>
            <a:ext cx="3622882" cy="718245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8086721" y="2792809"/>
            <a:ext cx="882926" cy="272752"/>
          </a:xfrm>
          <a:prstGeom prst="roundRect">
            <a:avLst>
              <a:gd name="adj" fmla="val 22121"/>
            </a:avLst>
          </a:prstGeom>
          <a:solidFill>
            <a:srgbClr val="D2DDF9"/>
          </a:solidFill>
          <a:ln/>
        </p:spPr>
      </p:sp>
      <p:sp>
        <p:nvSpPr>
          <p:cNvPr id="16" name="Text 11"/>
          <p:cNvSpPr/>
          <p:nvPr/>
        </p:nvSpPr>
        <p:spPr>
          <a:xfrm>
            <a:off x="8194371" y="2846586"/>
            <a:ext cx="667626" cy="165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STORAGE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8086721" y="3133725"/>
            <a:ext cx="3263918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17324D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BigQuery</a:t>
            </a:r>
            <a:endParaRPr lang="en-US" sz="1750" dirty="0"/>
          </a:p>
        </p:txBody>
      </p:sp>
      <p:sp>
        <p:nvSpPr>
          <p:cNvPr id="18" name="Text 13"/>
          <p:cNvSpPr/>
          <p:nvPr/>
        </p:nvSpPr>
        <p:spPr>
          <a:xfrm>
            <a:off x="8086721" y="3516511"/>
            <a:ext cx="3263918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B768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Skalierbare Cloud-Datenhaltung</a:t>
            </a:r>
            <a:endParaRPr lang="en-US" sz="14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4256187"/>
            <a:ext cx="3622882" cy="718245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840957" y="5144988"/>
            <a:ext cx="938784" cy="272752"/>
          </a:xfrm>
          <a:prstGeom prst="roundRect">
            <a:avLst>
              <a:gd name="adj" fmla="val 22121"/>
            </a:avLst>
          </a:prstGeom>
          <a:solidFill>
            <a:srgbClr val="D2DDF9"/>
          </a:solidFill>
          <a:ln/>
        </p:spPr>
      </p:sp>
      <p:sp>
        <p:nvSpPr>
          <p:cNvPr id="21" name="Text 15"/>
          <p:cNvSpPr/>
          <p:nvPr/>
        </p:nvSpPr>
        <p:spPr>
          <a:xfrm>
            <a:off x="948607" y="5198765"/>
            <a:ext cx="723485" cy="165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ANALYSIS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840957" y="5485904"/>
            <a:ext cx="3263918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17324D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SQL</a:t>
            </a:r>
            <a:endParaRPr lang="en-US" sz="1750" dirty="0"/>
          </a:p>
        </p:txBody>
      </p:sp>
      <p:sp>
        <p:nvSpPr>
          <p:cNvPr id="23" name="Text 17"/>
          <p:cNvSpPr/>
          <p:nvPr/>
        </p:nvSpPr>
        <p:spPr>
          <a:xfrm>
            <a:off x="840957" y="5868690"/>
            <a:ext cx="3263918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B768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Aggregation und Transformation</a:t>
            </a:r>
            <a:endParaRPr lang="en-US" sz="140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4357" y="4256187"/>
            <a:ext cx="3622882" cy="718245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4463839" y="5144988"/>
            <a:ext cx="365810" cy="272752"/>
          </a:xfrm>
          <a:prstGeom prst="roundRect">
            <a:avLst>
              <a:gd name="adj" fmla="val 22121"/>
            </a:avLst>
          </a:prstGeom>
          <a:solidFill>
            <a:srgbClr val="D2DDF9"/>
          </a:solidFill>
          <a:ln/>
        </p:spPr>
      </p:sp>
      <p:sp>
        <p:nvSpPr>
          <p:cNvPr id="26" name="Text 19"/>
          <p:cNvSpPr/>
          <p:nvPr/>
        </p:nvSpPr>
        <p:spPr>
          <a:xfrm>
            <a:off x="4571489" y="5198765"/>
            <a:ext cx="150511" cy="165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BI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4463839" y="5485904"/>
            <a:ext cx="3263918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17324D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Tableau</a:t>
            </a:r>
            <a:endParaRPr lang="en-US" sz="1750" dirty="0"/>
          </a:p>
        </p:txBody>
      </p:sp>
      <p:sp>
        <p:nvSpPr>
          <p:cNvPr id="28" name="Text 21"/>
          <p:cNvSpPr/>
          <p:nvPr/>
        </p:nvSpPr>
        <p:spPr>
          <a:xfrm>
            <a:off x="4463839" y="5868690"/>
            <a:ext cx="3263918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B768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Interaktive KPI-Visualisierung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7666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17324D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Data Quality &amp; SQL Transformation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61475" y="1439962"/>
            <a:ext cx="11478330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B768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Raw Data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</a:t>
            </a:r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9A7A0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→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B768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SQL Transformation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</a:t>
            </a:r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9A7A0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→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</a:t>
            </a:r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7324D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Analytical Dataset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61475" y="2082502"/>
            <a:ext cx="5215303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17324D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SQL Query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661475" y="2554883"/>
            <a:ext cx="5215303" cy="1795661"/>
          </a:xfrm>
          <a:prstGeom prst="roundRect">
            <a:avLst>
              <a:gd name="adj" fmla="val 4200"/>
            </a:avLst>
          </a:prstGeom>
          <a:solidFill>
            <a:srgbClr val="ECECF2"/>
          </a:solidFill>
          <a:ln/>
        </p:spPr>
      </p:sp>
      <p:sp>
        <p:nvSpPr>
          <p:cNvPr id="6" name="Text 4"/>
          <p:cNvSpPr/>
          <p:nvPr/>
        </p:nvSpPr>
        <p:spPr>
          <a:xfrm>
            <a:off x="876873" y="2734370"/>
            <a:ext cx="4784506" cy="1436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encounter_class,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COUNT(*) AS encounters,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AVG(total_cost) AS avg_cost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analytical_encounters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encounter_class;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61475" y="4542433"/>
            <a:ext cx="5215303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B768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Aggregiert Encounter-Volumen und Kosten je Versorgungsklasse — Grundlage für KPIs.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21267" y="2082502"/>
            <a:ext cx="5215303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17324D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Analysefelder</a:t>
            </a:r>
            <a:endParaRPr lang="en-US" sz="17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21267" y="2554883"/>
            <a:ext cx="2522375" cy="170150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627746" y="2759770"/>
            <a:ext cx="2011015" cy="560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404155"/>
                </a:solidFill>
                <a:latin typeface="Alexandria Bold" pitchFamily="34" charset="0"/>
                <a:ea typeface="Alexandria Bold" pitchFamily="34" charset="-122"/>
                <a:cs typeface="Alexandria Bold" pitchFamily="34" charset="-120"/>
              </a:rPr>
              <a:t>Encounter Volume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6627746" y="3491309"/>
            <a:ext cx="2011015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B768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Versorgungsmenge je Klasse</a:t>
            </a:r>
            <a:endParaRPr lang="en-US" sz="14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14195" y="2554883"/>
            <a:ext cx="2522375" cy="170150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320674" y="2759770"/>
            <a:ext cx="2011015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404155"/>
                </a:solidFill>
                <a:latin typeface="Alexandria Bold" pitchFamily="34" charset="0"/>
                <a:ea typeface="Alexandria Bold" pitchFamily="34" charset="-122"/>
                <a:cs typeface="Alexandria Bold" pitchFamily="34" charset="-120"/>
              </a:rPr>
              <a:t>Average Cost</a:t>
            </a:r>
            <a:endParaRPr lang="en-US" sz="1750" dirty="0"/>
          </a:p>
        </p:txBody>
      </p:sp>
      <p:sp>
        <p:nvSpPr>
          <p:cNvPr id="14" name="Text 10"/>
          <p:cNvSpPr/>
          <p:nvPr/>
        </p:nvSpPr>
        <p:spPr>
          <a:xfrm>
            <a:off x="9320674" y="3210818"/>
            <a:ext cx="2011015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B768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Durchschnittliche Behandlungskosten</a:t>
            </a:r>
            <a:endParaRPr lang="en-US" sz="14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21267" y="4426942"/>
            <a:ext cx="2522375" cy="170150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627746" y="4631829"/>
            <a:ext cx="2011015" cy="560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404155"/>
                </a:solidFill>
                <a:latin typeface="Alexandria Bold" pitchFamily="34" charset="0"/>
                <a:ea typeface="Alexandria Bold" pitchFamily="34" charset="-122"/>
                <a:cs typeface="Alexandria Bold" pitchFamily="34" charset="-120"/>
              </a:rPr>
              <a:t>Healthcare Utilization</a:t>
            </a:r>
            <a:endParaRPr lang="en-US" sz="1750" dirty="0"/>
          </a:p>
        </p:txBody>
      </p:sp>
      <p:sp>
        <p:nvSpPr>
          <p:cNvPr id="17" name="Text 12"/>
          <p:cNvSpPr/>
          <p:nvPr/>
        </p:nvSpPr>
        <p:spPr>
          <a:xfrm>
            <a:off x="6627746" y="5363369"/>
            <a:ext cx="2011015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B768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Nutzungsmuster und -intensität</a:t>
            </a:r>
            <a:endParaRPr lang="en-US" sz="14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014195" y="4426942"/>
            <a:ext cx="2522375" cy="170150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320674" y="4631829"/>
            <a:ext cx="2011015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404155"/>
                </a:solidFill>
                <a:latin typeface="Alexandria Bold" pitchFamily="34" charset="0"/>
                <a:ea typeface="Alexandria Bold" pitchFamily="34" charset="-122"/>
                <a:cs typeface="Alexandria Bold" pitchFamily="34" charset="-120"/>
              </a:rPr>
              <a:t>Outcome Metrics</a:t>
            </a:r>
            <a:endParaRPr lang="en-US" sz="1750" dirty="0"/>
          </a:p>
        </p:txBody>
      </p:sp>
      <p:sp>
        <p:nvSpPr>
          <p:cNvPr id="20" name="Text 14"/>
          <p:cNvSpPr/>
          <p:nvPr/>
        </p:nvSpPr>
        <p:spPr>
          <a:xfrm>
            <a:off x="9320674" y="5082877"/>
            <a:ext cx="2011015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B768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Vergleichbare Ergebniskennzahlen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7772"/>
            <a:ext cx="1582499" cy="86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550" dirty="0">
                <a:solidFill>
                  <a:srgbClr val="1B54DA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◆ EXPLORATIVE ANALYSE</a:t>
            </a:r>
            <a:endParaRPr lang="en-US" sz="550" dirty="0"/>
          </a:p>
        </p:txBody>
      </p:sp>
      <p:sp>
        <p:nvSpPr>
          <p:cNvPr id="3" name="Text 1"/>
          <p:cNvSpPr/>
          <p:nvPr/>
        </p:nvSpPr>
        <p:spPr>
          <a:xfrm>
            <a:off x="661475" y="721023"/>
            <a:ext cx="10868745" cy="293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Explorative Datenanalyse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1085056"/>
            <a:ext cx="11478330" cy="112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6B768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Erste Muster in Versorgungsvolumen, Kostenstruktur und Patientennutzung — Fokus auf Quantifizierung und Identifikation relevanter Analysefelder.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661475" y="1296988"/>
            <a:ext cx="5319679" cy="146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19A7A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01 ·</a:t>
            </a:r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17324D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Healthcare Utilization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61475" y="1490663"/>
            <a:ext cx="5929263" cy="112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17324D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Wo entsteht das höchste Versorgungsvolumen?</a:t>
            </a:r>
            <a:endParaRPr lang="en-US" sz="7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655862"/>
            <a:ext cx="3457786" cy="249098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16891" y="1296988"/>
            <a:ext cx="5319679" cy="146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19A7A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02 ·</a:t>
            </a:r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17324D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Cost Structure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16891" y="1490663"/>
            <a:ext cx="5929263" cy="112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17324D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Welche Encounter-Typen sind besonders kostenintensiv?</a:t>
            </a:r>
            <a:endParaRPr lang="en-US" sz="7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6891" y="1655862"/>
            <a:ext cx="3457786" cy="249098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216891" y="4199434"/>
            <a:ext cx="5319679" cy="553541"/>
          </a:xfrm>
          <a:prstGeom prst="roundRect">
            <a:avLst>
              <a:gd name="adj" fmla="val 7137"/>
            </a:avLst>
          </a:prstGeom>
          <a:solidFill>
            <a:srgbClr val="D2DDF9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0948" y="4263727"/>
            <a:ext cx="146939" cy="11757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551945" y="4265017"/>
            <a:ext cx="4890568" cy="422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Key Finding:</a:t>
            </a:r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Hohe Nutzung bedeutet nicht automatisch hohe Kosten — die Analyse zeigt deutliche Unterschiede zwischen Versorgungsvolumen und durchschnittlichen Behandlungskosten.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661475" y="4875709"/>
            <a:ext cx="10868745" cy="146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19A7A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03 ·</a:t>
            </a:r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17324D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Treatment Utilization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661475" y="5092799"/>
            <a:ext cx="11478330" cy="112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17324D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Welche klinischen Befunde, Medikamente und Verfahren dominieren die Versorgung?</a:t>
            </a:r>
            <a:endParaRPr lang="en-US" sz="7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5257998"/>
            <a:ext cx="3591728" cy="104040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19030" y="5392936"/>
            <a:ext cx="1018753" cy="86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550" dirty="0">
                <a:solidFill>
                  <a:srgbClr val="1B54DA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 · TOP CLINICAL FINDINGS</a:t>
            </a:r>
            <a:endParaRPr lang="en-US" sz="550" dirty="0"/>
          </a:p>
        </p:txBody>
      </p:sp>
      <p:sp>
        <p:nvSpPr>
          <p:cNvPr id="18" name="Text 12"/>
          <p:cNvSpPr/>
          <p:nvPr/>
        </p:nvSpPr>
        <p:spPr>
          <a:xfrm>
            <a:off x="819030" y="5526187"/>
            <a:ext cx="3327416" cy="146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17324D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Medication Refusal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819030" y="5701209"/>
            <a:ext cx="3327416" cy="253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Dominierender klinischer Befund</a:t>
            </a:r>
            <a:endParaRPr lang="en-US" sz="7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6B768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Signalisiert Compliance-Herausforderungen in der Langzeitversorgung.</a:t>
            </a:r>
            <a:endParaRPr lang="en-US" sz="700" dirty="0"/>
          </a:p>
        </p:txBody>
      </p:sp>
      <p:sp>
        <p:nvSpPr>
          <p:cNvPr id="20" name="Text 14"/>
          <p:cNvSpPr/>
          <p:nvPr/>
        </p:nvSpPr>
        <p:spPr>
          <a:xfrm>
            <a:off x="819030" y="5982593"/>
            <a:ext cx="3327416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↗</a:t>
            </a:r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19A7A0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 Dashboard: Clinical Analysis · Top Findings</a:t>
            </a:r>
            <a:endParaRPr lang="en-US" sz="55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299934" y="5257998"/>
            <a:ext cx="3591728" cy="104040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457489" y="5392936"/>
            <a:ext cx="808910" cy="86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550" dirty="0">
                <a:solidFill>
                  <a:srgbClr val="1B54DA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 · TOP MEDICATIONS</a:t>
            </a:r>
            <a:endParaRPr lang="en-US" sz="550" dirty="0"/>
          </a:p>
        </p:txBody>
      </p:sp>
      <p:sp>
        <p:nvSpPr>
          <p:cNvPr id="23" name="Text 16"/>
          <p:cNvSpPr/>
          <p:nvPr/>
        </p:nvSpPr>
        <p:spPr>
          <a:xfrm>
            <a:off x="4457489" y="5526187"/>
            <a:ext cx="3327416" cy="146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17324D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Epoetin Alfa Injection</a:t>
            </a:r>
            <a:endParaRPr lang="en-US" sz="900" dirty="0"/>
          </a:p>
        </p:txBody>
      </p:sp>
      <p:sp>
        <p:nvSpPr>
          <p:cNvPr id="24" name="Text 17"/>
          <p:cNvSpPr/>
          <p:nvPr/>
        </p:nvSpPr>
        <p:spPr>
          <a:xfrm>
            <a:off x="4457489" y="5701209"/>
            <a:ext cx="3327416" cy="365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Meistverordnetes Medikament</a:t>
            </a:r>
            <a:endParaRPr lang="en-US" sz="7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6B768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Weist auf relevanten Anteil hämatologischer und onkologischer Behandlungen hin.</a:t>
            </a:r>
            <a:endParaRPr lang="en-US" sz="700" dirty="0"/>
          </a:p>
        </p:txBody>
      </p:sp>
      <p:sp>
        <p:nvSpPr>
          <p:cNvPr id="25" name="Text 18"/>
          <p:cNvSpPr/>
          <p:nvPr/>
        </p:nvSpPr>
        <p:spPr>
          <a:xfrm>
            <a:off x="4457489" y="6095206"/>
            <a:ext cx="3327416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↗</a:t>
            </a:r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19A7A0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 Dashboard: Clinical Analysis · Top Medications</a:t>
            </a:r>
            <a:endParaRPr lang="en-US" sz="55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938393" y="5257998"/>
            <a:ext cx="3591827" cy="104040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095948" y="5392936"/>
            <a:ext cx="769819" cy="86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550" dirty="0">
                <a:solidFill>
                  <a:srgbClr val="1B54DA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 · TOP PROCEDURES</a:t>
            </a:r>
            <a:endParaRPr lang="en-US" sz="550" dirty="0"/>
          </a:p>
        </p:txBody>
      </p:sp>
      <p:sp>
        <p:nvSpPr>
          <p:cNvPr id="28" name="Text 20"/>
          <p:cNvSpPr/>
          <p:nvPr/>
        </p:nvSpPr>
        <p:spPr>
          <a:xfrm>
            <a:off x="8095948" y="5526187"/>
            <a:ext cx="3327515" cy="146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17324D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Depression Screening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8095948" y="5701209"/>
            <a:ext cx="3327515" cy="253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Häufigstes Verfahren im Versorgungspfad</a:t>
            </a:r>
            <a:endParaRPr lang="en-US" sz="7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6B768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Deutet auf systematische Präventionsprotokolle hin.</a:t>
            </a:r>
            <a:endParaRPr lang="en-US" sz="700" dirty="0"/>
          </a:p>
        </p:txBody>
      </p:sp>
      <p:sp>
        <p:nvSpPr>
          <p:cNvPr id="30" name="Text 22"/>
          <p:cNvSpPr/>
          <p:nvPr/>
        </p:nvSpPr>
        <p:spPr>
          <a:xfrm>
            <a:off x="8095948" y="5982593"/>
            <a:ext cx="3327515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↗</a:t>
            </a:r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19A7A0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 Dashboard: Clinical Analysis · Top Procedures</a:t>
            </a:r>
            <a:endParaRPr lang="en-US" sz="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54373"/>
            <a:ext cx="2432981" cy="121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1B54DA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◆ ANALYTISCHE INTERPRETATION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61475" y="1052810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KPI &amp; Healthcare Analysis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61475" y="1605161"/>
            <a:ext cx="11478330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6B768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Was bedeuten die explorativen Muster? — Befunde zu Nutzung, Kostenintensität und Patientensegmentierung im analytischen Blick.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1475" y="1981895"/>
            <a:ext cx="3370476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9A7A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01 · </a:t>
            </a:r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7324D"/>
                </a:solidFill>
                <a:latin typeface="Alexandria Bold" pitchFamily="34" charset="0"/>
                <a:ea typeface="Alexandria Bold" pitchFamily="34" charset="-122"/>
                <a:cs typeface="Alexandria Bold" pitchFamily="34" charset="-120"/>
              </a:rPr>
              <a:t>Healthcare Utilization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61475" y="2281138"/>
            <a:ext cx="3980061" cy="143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800" dirty="0">
                <a:solidFill>
                  <a:srgbClr val="6B768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Ø Encounters per Patient</a:t>
            </a:r>
            <a:endParaRPr lang="en-US" sz="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529284"/>
            <a:ext cx="2359264" cy="20929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61475" y="4726384"/>
            <a:ext cx="3370476" cy="772716"/>
          </a:xfrm>
          <a:prstGeom prst="roundRect">
            <a:avLst>
              <a:gd name="adj" fmla="val 7192"/>
            </a:avLst>
          </a:prstGeom>
          <a:solidFill>
            <a:srgbClr val="D2DDF9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30" y="4863207"/>
            <a:ext cx="165294" cy="13225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91280" y="4842768"/>
            <a:ext cx="2808416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b="1" dirty="0">
                <a:solidFill>
                  <a:srgbClr val="17324D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Befund:</a:t>
            </a:r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</a:t>
            </a:r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6B768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Unterschiede in der Nutzungsintensität werden nach Normalisierung sichtbar.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4360952" y="1981895"/>
            <a:ext cx="3370476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9A7A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02 · </a:t>
            </a:r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7324D"/>
                </a:solidFill>
                <a:latin typeface="Alexandria Bold" pitchFamily="34" charset="0"/>
                <a:ea typeface="Alexandria Bold" pitchFamily="34" charset="-122"/>
                <a:cs typeface="Alexandria Bold" pitchFamily="34" charset="-120"/>
              </a:rPr>
              <a:t>Cost per Encounter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360952" y="2281138"/>
            <a:ext cx="3980061" cy="143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800" dirty="0">
                <a:solidFill>
                  <a:srgbClr val="6B768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Average Cost Index + Cost Impact</a:t>
            </a:r>
            <a:endParaRPr lang="en-US" sz="8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0952" y="2529284"/>
            <a:ext cx="2359264" cy="209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559384" y="4818955"/>
            <a:ext cx="3172043" cy="330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050" b="1" dirty="0">
                <a:solidFill>
                  <a:srgbClr val="19A7A0"/>
                </a:solidFill>
                <a:latin typeface="Alexandria Bold" pitchFamily="34" charset="0"/>
                <a:ea typeface="Alexandria Bold" pitchFamily="34" charset="-122"/>
                <a:cs typeface="Alexandria Bold" pitchFamily="34" charset="-120"/>
              </a:rPr>
              <a:t>Volume ≠ Cost Impact</a:t>
            </a:r>
            <a:endParaRPr lang="en-US" sz="2050" dirty="0"/>
          </a:p>
        </p:txBody>
      </p:sp>
      <p:sp>
        <p:nvSpPr>
          <p:cNvPr id="15" name="Shape 10"/>
          <p:cNvSpPr/>
          <p:nvPr/>
        </p:nvSpPr>
        <p:spPr>
          <a:xfrm>
            <a:off x="4360952" y="4726384"/>
            <a:ext cx="19050" cy="515838"/>
          </a:xfrm>
          <a:prstGeom prst="roundRect">
            <a:avLst>
              <a:gd name="adj" fmla="val 49999"/>
            </a:avLst>
          </a:prstGeom>
          <a:solidFill>
            <a:srgbClr val="1B54DA"/>
          </a:solidFill>
          <a:ln/>
        </p:spPr>
      </p:sp>
      <p:sp>
        <p:nvSpPr>
          <p:cNvPr id="16" name="Shape 11"/>
          <p:cNvSpPr/>
          <p:nvPr/>
        </p:nvSpPr>
        <p:spPr>
          <a:xfrm>
            <a:off x="4360952" y="5346402"/>
            <a:ext cx="3370476" cy="592733"/>
          </a:xfrm>
          <a:prstGeom prst="roundRect">
            <a:avLst>
              <a:gd name="adj" fmla="val 9375"/>
            </a:avLst>
          </a:prstGeom>
          <a:solidFill>
            <a:srgbClr val="D2DDF9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3207" y="5483225"/>
            <a:ext cx="165294" cy="13225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790757" y="5462786"/>
            <a:ext cx="2808416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b="1" dirty="0">
                <a:solidFill>
                  <a:srgbClr val="17324D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Befund:</a:t>
            </a:r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</a:t>
            </a:r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6B768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Kostenintensität und Nutzung folgen unterschiedlichen Mustern.</a:t>
            </a:r>
            <a:endParaRPr lang="en-US" sz="1000" dirty="0"/>
          </a:p>
        </p:txBody>
      </p:sp>
      <p:sp>
        <p:nvSpPr>
          <p:cNvPr id="19" name="Text 13"/>
          <p:cNvSpPr/>
          <p:nvPr/>
        </p:nvSpPr>
        <p:spPr>
          <a:xfrm>
            <a:off x="8060429" y="1981895"/>
            <a:ext cx="3482392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9A7A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03 · </a:t>
            </a:r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7324D"/>
                </a:solidFill>
                <a:latin typeface="Alexandria Bold" pitchFamily="34" charset="0"/>
                <a:ea typeface="Alexandria Bold" pitchFamily="34" charset="-122"/>
                <a:cs typeface="Alexandria Bold" pitchFamily="34" charset="-120"/>
              </a:rPr>
              <a:t>Utilization by Age Group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8060429" y="2281138"/>
            <a:ext cx="4091977" cy="143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800" dirty="0">
                <a:solidFill>
                  <a:srgbClr val="6B768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Encounter-Intensität nach Altersgruppe</a:t>
            </a:r>
            <a:endParaRPr lang="en-US" sz="8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0429" y="2529284"/>
            <a:ext cx="2437644" cy="2128441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8060429" y="4761905"/>
            <a:ext cx="3482392" cy="592733"/>
          </a:xfrm>
          <a:prstGeom prst="roundRect">
            <a:avLst>
              <a:gd name="adj" fmla="val 9375"/>
            </a:avLst>
          </a:prstGeom>
          <a:solidFill>
            <a:srgbClr val="D2DDF9"/>
          </a:solidFill>
          <a:ln/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2684" y="4898727"/>
            <a:ext cx="165294" cy="132259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8490234" y="4878288"/>
            <a:ext cx="2920332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b="1" dirty="0">
                <a:solidFill>
                  <a:srgbClr val="17324D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Befund:</a:t>
            </a:r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</a:t>
            </a:r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6B768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Healthcare-Nutzung steigt mit dem Alter — 65+ zeigt die höchste Intensität.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73845"/>
            <a:ext cx="2165395" cy="113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1B54DA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◆ FINAL ANALYTICAL PRODUCT</a:t>
            </a:r>
            <a:endParaRPr lang="en-US" sz="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313458"/>
            <a:ext cx="5322357" cy="299263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61475" y="4395887"/>
            <a:ext cx="4054274" cy="672604"/>
          </a:xfrm>
          <a:prstGeom prst="roundRect">
            <a:avLst>
              <a:gd name="adj" fmla="val 7672"/>
            </a:avLst>
          </a:prstGeom>
          <a:solidFill>
            <a:srgbClr val="F9F9FF"/>
          </a:solidFill>
          <a:ln w="12700">
            <a:solidFill>
              <a:srgbClr val="B8C3D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97004" y="4531420"/>
            <a:ext cx="3783216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19A7A0"/>
                </a:solidFill>
                <a:latin typeface="Alexandria Bold" pitchFamily="34" charset="0"/>
                <a:ea typeface="Alexandria Bold" pitchFamily="34" charset="-122"/>
                <a:cs typeface="Alexandria Bold" pitchFamily="34" charset="-120"/>
              </a:rPr>
              <a:t>01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7324D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KPI Overview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97004" y="4803180"/>
            <a:ext cx="3783216" cy="129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6B768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Total Patients · Avg Age · Mortality · Avg Expenses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4795519" y="4395887"/>
            <a:ext cx="4054274" cy="672604"/>
          </a:xfrm>
          <a:prstGeom prst="roundRect">
            <a:avLst>
              <a:gd name="adj" fmla="val 7672"/>
            </a:avLst>
          </a:prstGeom>
          <a:solidFill>
            <a:srgbClr val="F9F9FF"/>
          </a:solidFill>
          <a:ln w="12700">
            <a:solidFill>
              <a:srgbClr val="B8C3D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31049" y="4531420"/>
            <a:ext cx="3783216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19A7A0"/>
                </a:solidFill>
                <a:latin typeface="Alexandria Bold" pitchFamily="34" charset="0"/>
                <a:ea typeface="Alexandria Bold" pitchFamily="34" charset="-122"/>
                <a:cs typeface="Alexandria Bold" pitchFamily="34" charset="-120"/>
              </a:rPr>
              <a:t>02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7324D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Demographic Insights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931049" y="4803180"/>
            <a:ext cx="3783216" cy="129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6B768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Age distribution &amp; patient segmentation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661475" y="5148263"/>
            <a:ext cx="8188319" cy="672604"/>
          </a:xfrm>
          <a:prstGeom prst="roundRect">
            <a:avLst>
              <a:gd name="adj" fmla="val 7672"/>
            </a:avLst>
          </a:prstGeom>
          <a:solidFill>
            <a:srgbClr val="F9F9FF"/>
          </a:solidFill>
          <a:ln w="12700">
            <a:solidFill>
              <a:srgbClr val="B8C3D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97004" y="5283795"/>
            <a:ext cx="7917260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19A7A0"/>
                </a:solidFill>
                <a:latin typeface="Alexandria Bold" pitchFamily="34" charset="0"/>
                <a:ea typeface="Alexandria Bold" pitchFamily="34" charset="-122"/>
                <a:cs typeface="Alexandria Bold" pitchFamily="34" charset="-120"/>
              </a:rPr>
              <a:t>03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7324D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Expenses Analysis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97004" y="5555555"/>
            <a:ext cx="7917260" cy="129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6B768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Cost structure, intensity &amp; encounter breakdown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9155776" y="894655"/>
            <a:ext cx="2380694" cy="3839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7324D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Tableau Dashboard</a:t>
            </a:r>
            <a:endParaRPr lang="en-US" sz="12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9A7A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&amp; Data Communication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155776" y="1358404"/>
            <a:ext cx="2380694" cy="2595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6B768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Überführung analytischer Ergebnisse in ein interaktives Dashboard für KPI-Monitoring.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9155776" y="1738412"/>
            <a:ext cx="2380694" cy="12700"/>
          </a:xfrm>
          <a:prstGeom prst="roundRect">
            <a:avLst>
              <a:gd name="adj" fmla="val 49999"/>
            </a:avLst>
          </a:prstGeom>
          <a:solidFill>
            <a:srgbClr val="404155">
              <a:alpha val="50000"/>
            </a:srgbClr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55776" y="1871563"/>
            <a:ext cx="2380694" cy="102840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0272356" y="1963638"/>
            <a:ext cx="147336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9291306" y="2362895"/>
            <a:ext cx="2109636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7324D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Information Design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9291306" y="2634655"/>
            <a:ext cx="2109636" cy="129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6B7680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Overview → Compare → Explore</a:t>
            </a:r>
            <a:endParaRPr lang="en-US" sz="75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55776" y="2979738"/>
            <a:ext cx="2380694" cy="102840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0272356" y="3071812"/>
            <a:ext cx="147336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2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9291306" y="3471069"/>
            <a:ext cx="2109636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7324D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Interactivity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9291306" y="3742829"/>
            <a:ext cx="2109636" cy="129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6B768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Encounter Class · Age Group · Period</a:t>
            </a:r>
            <a:endParaRPr lang="en-US" sz="75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55776" y="4087912"/>
            <a:ext cx="2380694" cy="1440755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272356" y="4179987"/>
            <a:ext cx="147336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3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9291306" y="4579243"/>
            <a:ext cx="2109636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7324D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Dimensionen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9291306" y="4851003"/>
            <a:ext cx="2109636" cy="542131"/>
          </a:xfrm>
          <a:prstGeom prst="rect">
            <a:avLst/>
          </a:prstGeom>
          <a:noFill/>
          <a:ln/>
        </p:spPr>
        <p:txBody>
          <a:bodyPr wrap="square" lIns="0" tIns="49145" rIns="0" bIns="0" rtlCol="0" anchor="t">
            <a:normAutofit/>
          </a:bodyPr>
          <a:lstStyle/>
          <a:p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6B768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Encounter-Klasse</a:t>
            </a:r>
            <a:endParaRPr lang="en-US" sz="950" dirty="0"/>
          </a:p>
          <a:p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6B768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Kostenstruktur</a:t>
            </a:r>
            <a:endParaRPr lang="en-US" sz="950" dirty="0"/>
          </a:p>
          <a:p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6B768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Patientensegmente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9155776" y="5618460"/>
            <a:ext cx="2380694" cy="334764"/>
          </a:xfrm>
          <a:prstGeom prst="roundRect">
            <a:avLst>
              <a:gd name="adj" fmla="val 15414"/>
            </a:avLst>
          </a:prstGeom>
          <a:solidFill>
            <a:srgbClr val="D2DDF9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78606" y="5723830"/>
            <a:ext cx="122830" cy="98227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9524266" y="5720953"/>
            <a:ext cx="2498960" cy="129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Dashboard = Interface to Analysis.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04056"/>
            <a:ext cx="1310349" cy="186630"/>
          </a:xfrm>
          <a:prstGeom prst="roundRect">
            <a:avLst>
              <a:gd name="adj" fmla="val 22119"/>
            </a:avLst>
          </a:prstGeom>
          <a:solidFill>
            <a:srgbClr val="D2DDF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093" y="748209"/>
            <a:ext cx="98224" cy="982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2429" y="740866"/>
            <a:ext cx="1625361" cy="113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PORTFOLIO CLOSING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661475" y="922536"/>
            <a:ext cx="10868745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7324D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Project Outcome &amp; Analytical Value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61475" y="1426270"/>
            <a:ext cx="11478330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B768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Vom Rohdatensatz zum interaktiven Analyseprodukt — ein konsistenter Workflow, der Daten in strukturierte Erkenntnisse überführt.</a:t>
            </a:r>
            <a:endParaRPr lang="en-US" sz="9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5" y="1678186"/>
            <a:ext cx="5434373" cy="49143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84305" y="2249388"/>
            <a:ext cx="5188713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7324D"/>
                </a:solidFill>
                <a:latin typeface="Alexandria Bold" pitchFamily="34" charset="0"/>
                <a:ea typeface="Alexandria Bold" pitchFamily="34" charset="-122"/>
                <a:cs typeface="Alexandria Bold" pitchFamily="34" charset="-120"/>
              </a:rPr>
              <a:t>Prepare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784305" y="2527498"/>
            <a:ext cx="5188713" cy="129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6B768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Synthea · Python</a:t>
            </a:r>
            <a:endParaRPr lang="en-US" sz="750" dirty="0"/>
          </a:p>
        </p:txBody>
      </p:sp>
      <p:sp>
        <p:nvSpPr>
          <p:cNvPr id="10" name="Text 6"/>
          <p:cNvSpPr/>
          <p:nvPr/>
        </p:nvSpPr>
        <p:spPr>
          <a:xfrm>
            <a:off x="784305" y="2705100"/>
            <a:ext cx="5188713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9A7A0"/>
                </a:solidFill>
                <a:latin typeface="Alexandria Bold" pitchFamily="34" charset="0"/>
                <a:ea typeface="Alexandria Bold" pitchFamily="34" charset="-122"/>
                <a:cs typeface="Alexandria Bold" pitchFamily="34" charset="-120"/>
              </a:rPr>
              <a:t>Usable Data</a:t>
            </a:r>
            <a:endParaRPr lang="en-US" sz="14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48" y="1678186"/>
            <a:ext cx="5434373" cy="49143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218677" y="2249388"/>
            <a:ext cx="5188713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7324D"/>
                </a:solidFill>
                <a:latin typeface="Alexandria Bold" pitchFamily="34" charset="0"/>
                <a:ea typeface="Alexandria Bold" pitchFamily="34" charset="-122"/>
                <a:cs typeface="Alexandria Bold" pitchFamily="34" charset="-120"/>
              </a:rPr>
              <a:t>Explore</a:t>
            </a:r>
            <a:endParaRPr lang="en-US" sz="1450" dirty="0"/>
          </a:p>
        </p:txBody>
      </p:sp>
      <p:sp>
        <p:nvSpPr>
          <p:cNvPr id="13" name="Text 8"/>
          <p:cNvSpPr/>
          <p:nvPr/>
        </p:nvSpPr>
        <p:spPr>
          <a:xfrm>
            <a:off x="6218677" y="2527498"/>
            <a:ext cx="5188713" cy="129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6B768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Python · SQL</a:t>
            </a:r>
            <a:endParaRPr lang="en-US" sz="750" dirty="0"/>
          </a:p>
        </p:txBody>
      </p:sp>
      <p:sp>
        <p:nvSpPr>
          <p:cNvPr id="14" name="Text 9"/>
          <p:cNvSpPr/>
          <p:nvPr/>
        </p:nvSpPr>
        <p:spPr>
          <a:xfrm>
            <a:off x="6218677" y="2705100"/>
            <a:ext cx="5188713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9A7A0"/>
                </a:solidFill>
                <a:latin typeface="Alexandria Bold" pitchFamily="34" charset="0"/>
                <a:ea typeface="Alexandria Bold" pitchFamily="34" charset="-122"/>
                <a:cs typeface="Alexandria Bold" pitchFamily="34" charset="-120"/>
              </a:rPr>
              <a:t>Patterns</a:t>
            </a:r>
            <a:endParaRPr lang="en-US" sz="14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3058220"/>
            <a:ext cx="5434373" cy="49143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84305" y="3629422"/>
            <a:ext cx="5188713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7324D"/>
                </a:solidFill>
                <a:latin typeface="Alexandria Bold" pitchFamily="34" charset="0"/>
                <a:ea typeface="Alexandria Bold" pitchFamily="34" charset="-122"/>
                <a:cs typeface="Alexandria Bold" pitchFamily="34" charset="-120"/>
              </a:rPr>
              <a:t>Analyze</a:t>
            </a:r>
            <a:endParaRPr lang="en-US" sz="1450" dirty="0"/>
          </a:p>
        </p:txBody>
      </p:sp>
      <p:sp>
        <p:nvSpPr>
          <p:cNvPr id="17" name="Text 11"/>
          <p:cNvSpPr/>
          <p:nvPr/>
        </p:nvSpPr>
        <p:spPr>
          <a:xfrm>
            <a:off x="784305" y="3907532"/>
            <a:ext cx="5188713" cy="129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6B768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SQL · BigQuery</a:t>
            </a:r>
            <a:endParaRPr lang="en-US" sz="750" dirty="0"/>
          </a:p>
        </p:txBody>
      </p:sp>
      <p:sp>
        <p:nvSpPr>
          <p:cNvPr id="18" name="Text 12"/>
          <p:cNvSpPr/>
          <p:nvPr/>
        </p:nvSpPr>
        <p:spPr>
          <a:xfrm>
            <a:off x="784305" y="4085134"/>
            <a:ext cx="5188713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9A7A0"/>
                </a:solidFill>
                <a:latin typeface="Alexandria Bold" pitchFamily="34" charset="0"/>
                <a:ea typeface="Alexandria Bold" pitchFamily="34" charset="-122"/>
                <a:cs typeface="Alexandria Bold" pitchFamily="34" charset="-120"/>
              </a:rPr>
              <a:t>Insights</a:t>
            </a:r>
            <a:endParaRPr lang="en-US" sz="14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848" y="3058220"/>
            <a:ext cx="5434373" cy="49143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218677" y="3629422"/>
            <a:ext cx="5188713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7324D"/>
                </a:solidFill>
                <a:latin typeface="Alexandria Bold" pitchFamily="34" charset="0"/>
                <a:ea typeface="Alexandria Bold" pitchFamily="34" charset="-122"/>
                <a:cs typeface="Alexandria Bold" pitchFamily="34" charset="-120"/>
              </a:rPr>
              <a:t>Communicate</a:t>
            </a:r>
            <a:endParaRPr lang="en-US" sz="1450" dirty="0"/>
          </a:p>
        </p:txBody>
      </p:sp>
      <p:sp>
        <p:nvSpPr>
          <p:cNvPr id="21" name="Text 14"/>
          <p:cNvSpPr/>
          <p:nvPr/>
        </p:nvSpPr>
        <p:spPr>
          <a:xfrm>
            <a:off x="6218677" y="3907532"/>
            <a:ext cx="5188713" cy="129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6B768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Tableau</a:t>
            </a:r>
            <a:endParaRPr lang="en-US" sz="750" dirty="0"/>
          </a:p>
        </p:txBody>
      </p:sp>
      <p:sp>
        <p:nvSpPr>
          <p:cNvPr id="22" name="Text 15"/>
          <p:cNvSpPr/>
          <p:nvPr/>
        </p:nvSpPr>
        <p:spPr>
          <a:xfrm>
            <a:off x="6218677" y="4085134"/>
            <a:ext cx="5188713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9A7A0"/>
                </a:solidFill>
                <a:latin typeface="Alexandria Bold" pitchFamily="34" charset="0"/>
                <a:ea typeface="Alexandria Bold" pitchFamily="34" charset="-122"/>
                <a:cs typeface="Alexandria Bold" pitchFamily="34" charset="-120"/>
              </a:rPr>
              <a:t>Analysis Product</a:t>
            </a:r>
            <a:endParaRPr lang="en-US" sz="1450" dirty="0"/>
          </a:p>
        </p:txBody>
      </p:sp>
      <p:sp>
        <p:nvSpPr>
          <p:cNvPr id="23" name="Shape 16"/>
          <p:cNvSpPr/>
          <p:nvPr/>
        </p:nvSpPr>
        <p:spPr>
          <a:xfrm>
            <a:off x="661475" y="4558705"/>
            <a:ext cx="10868745" cy="12700"/>
          </a:xfrm>
          <a:prstGeom prst="roundRect">
            <a:avLst>
              <a:gd name="adj" fmla="val 49999"/>
            </a:avLst>
          </a:prstGeom>
          <a:solidFill>
            <a:srgbClr val="404155">
              <a:alpha val="50000"/>
            </a:srgbClr>
          </a:solidFill>
          <a:ln/>
        </p:spPr>
      </p:sp>
      <p:sp>
        <p:nvSpPr>
          <p:cNvPr id="24" name="Shape 17"/>
          <p:cNvSpPr/>
          <p:nvPr/>
        </p:nvSpPr>
        <p:spPr>
          <a:xfrm>
            <a:off x="661475" y="4691856"/>
            <a:ext cx="3569702" cy="835124"/>
          </a:xfrm>
          <a:prstGeom prst="roundRect">
            <a:avLst>
              <a:gd name="adj" fmla="val 6179"/>
            </a:avLst>
          </a:prstGeom>
          <a:solidFill>
            <a:srgbClr val="F9F9FF"/>
          </a:solidFill>
          <a:ln w="12700">
            <a:solidFill>
              <a:srgbClr val="B8C3DF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797004" y="4827389"/>
            <a:ext cx="3298643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7324D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End-to-End Workflow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797004" y="5067201"/>
            <a:ext cx="3298643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B768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Prepare → Explore → Analyze → Communicate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B768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SQL · Python · BigQuery · Tableau</a:t>
            </a:r>
            <a:endParaRPr lang="en-US" sz="950" dirty="0"/>
          </a:p>
        </p:txBody>
      </p:sp>
      <p:sp>
        <p:nvSpPr>
          <p:cNvPr id="27" name="Shape 20"/>
          <p:cNvSpPr/>
          <p:nvPr/>
        </p:nvSpPr>
        <p:spPr>
          <a:xfrm>
            <a:off x="4310947" y="4691856"/>
            <a:ext cx="3569702" cy="835124"/>
          </a:xfrm>
          <a:prstGeom prst="roundRect">
            <a:avLst>
              <a:gd name="adj" fmla="val 6179"/>
            </a:avLst>
          </a:prstGeom>
          <a:solidFill>
            <a:srgbClr val="F9F9FF"/>
          </a:solidFill>
          <a:ln w="12700">
            <a:solidFill>
              <a:srgbClr val="B8C3DF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4446476" y="4827389"/>
            <a:ext cx="3298643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7324D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Key Deliverables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4446476" y="5067201"/>
            <a:ext cx="3298643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B768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Clean Dataset · KPI Framework · Analytical Insights · BI Dashboard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7960419" y="4691856"/>
            <a:ext cx="3569801" cy="835124"/>
          </a:xfrm>
          <a:prstGeom prst="roundRect">
            <a:avLst>
              <a:gd name="adj" fmla="val 6179"/>
            </a:avLst>
          </a:prstGeom>
          <a:solidFill>
            <a:srgbClr val="F9F9FF"/>
          </a:solidFill>
          <a:ln w="12700">
            <a:solidFill>
              <a:srgbClr val="B8C3DF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8095948" y="4827389"/>
            <a:ext cx="3298742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7324D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Analyst Value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8095948" y="5067201"/>
            <a:ext cx="3298742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B768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Data Preparation · Analytical Thinking · KPI Development · Data Communication</a:t>
            </a:r>
            <a:endParaRPr lang="en-US" sz="950" dirty="0"/>
          </a:p>
        </p:txBody>
      </p:sp>
      <p:sp>
        <p:nvSpPr>
          <p:cNvPr id="33" name="Shape 26"/>
          <p:cNvSpPr/>
          <p:nvPr/>
        </p:nvSpPr>
        <p:spPr>
          <a:xfrm>
            <a:off x="661475" y="5616773"/>
            <a:ext cx="10868745" cy="537170"/>
          </a:xfrm>
          <a:prstGeom prst="roundRect">
            <a:avLst>
              <a:gd name="adj" fmla="val 9606"/>
            </a:avLst>
          </a:prstGeom>
          <a:solidFill>
            <a:srgbClr val="B6FCB8"/>
          </a:solidFill>
          <a:ln/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4305" y="5733951"/>
            <a:ext cx="153488" cy="122833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1060622" y="5727204"/>
            <a:ext cx="10346768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Project Outcome: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Rohdaten werden entlang eines konsistenten analytischen Workflows in strukturierte Kennzahlen, interpretierbare Erkenntnisse und ein interaktiv nutzbares Analyseprodukt überführt.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2026-08-29T00:23:20Z</dcterms:created>
  <dcterms:modified xsi:type="dcterms:W3CDTF">2026-08-29T00:23:20Z</dcterms:modified>
</cp:coreProperties>
</file>